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6" r:id="rId1"/>
  </p:sldMasterIdLst>
  <p:notesMasterIdLst>
    <p:notesMasterId r:id="rId17"/>
  </p:notesMasterIdLst>
  <p:sldIdLst>
    <p:sldId id="281" r:id="rId2"/>
    <p:sldId id="284" r:id="rId3"/>
    <p:sldId id="285" r:id="rId4"/>
    <p:sldId id="295" r:id="rId5"/>
    <p:sldId id="286" r:id="rId6"/>
    <p:sldId id="296" r:id="rId7"/>
    <p:sldId id="287" r:id="rId8"/>
    <p:sldId id="298" r:id="rId9"/>
    <p:sldId id="300" r:id="rId10"/>
    <p:sldId id="288" r:id="rId11"/>
    <p:sldId id="289" r:id="rId12"/>
    <p:sldId id="290" r:id="rId13"/>
    <p:sldId id="291" r:id="rId14"/>
    <p:sldId id="292" r:id="rId15"/>
    <p:sldId id="299" r:id="rId16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8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A26645-5D25-41DC-AF3D-6BB0365153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9F58F5-7A33-4BC8-A436-B7457C97CE9E}">
      <dgm:prSet/>
      <dgm:spPr/>
      <dgm:t>
        <a:bodyPr/>
        <a:lstStyle/>
        <a:p>
          <a:r>
            <a:rPr lang="en-US" b="1"/>
            <a:t>Stakeholders</a:t>
          </a:r>
          <a:r>
            <a:rPr lang="en-US"/>
            <a:t>: </a:t>
          </a:r>
        </a:p>
      </dgm:t>
    </dgm:pt>
    <dgm:pt modelId="{3F82DE7F-FDC8-4B64-8312-3D779FE32F87}" type="parTrans" cxnId="{A1F1CDFF-A65F-4CEB-A64F-98CD965BCAD5}">
      <dgm:prSet/>
      <dgm:spPr/>
      <dgm:t>
        <a:bodyPr/>
        <a:lstStyle/>
        <a:p>
          <a:endParaRPr lang="en-US"/>
        </a:p>
      </dgm:t>
    </dgm:pt>
    <dgm:pt modelId="{07DA22B5-4B3C-481B-9077-87DFD0224146}" type="sibTrans" cxnId="{A1F1CDFF-A65F-4CEB-A64F-98CD965BCAD5}">
      <dgm:prSet/>
      <dgm:spPr/>
      <dgm:t>
        <a:bodyPr/>
        <a:lstStyle/>
        <a:p>
          <a:endParaRPr lang="en-US"/>
        </a:p>
      </dgm:t>
    </dgm:pt>
    <dgm:pt modelId="{07F789D7-71EF-410A-AFF0-D159975A6E63}">
      <dgm:prSet/>
      <dgm:spPr/>
      <dgm:t>
        <a:bodyPr/>
        <a:lstStyle/>
        <a:p>
          <a:r>
            <a:rPr lang="en-US" dirty="0"/>
            <a:t>Farmers – To detect plant diseases early and get fertilizer suggestions.</a:t>
          </a:r>
        </a:p>
      </dgm:t>
    </dgm:pt>
    <dgm:pt modelId="{209C2B06-FEFE-419A-B77E-84CED1E8D6B2}" type="parTrans" cxnId="{3DCBDEC2-16A5-461D-BD17-01F3D55705BF}">
      <dgm:prSet/>
      <dgm:spPr/>
      <dgm:t>
        <a:bodyPr/>
        <a:lstStyle/>
        <a:p>
          <a:endParaRPr lang="en-US"/>
        </a:p>
      </dgm:t>
    </dgm:pt>
    <dgm:pt modelId="{D4DD3143-FF6A-461B-8A56-5C400A2B17BA}" type="sibTrans" cxnId="{3DCBDEC2-16A5-461D-BD17-01F3D55705BF}">
      <dgm:prSet/>
      <dgm:spPr/>
      <dgm:t>
        <a:bodyPr/>
        <a:lstStyle/>
        <a:p>
          <a:endParaRPr lang="en-US"/>
        </a:p>
      </dgm:t>
    </dgm:pt>
    <dgm:pt modelId="{67F5E5FE-9F4A-453C-8D68-AE0A92076127}">
      <dgm:prSet/>
      <dgm:spPr/>
      <dgm:t>
        <a:bodyPr/>
        <a:lstStyle/>
        <a:p>
          <a:r>
            <a:rPr lang="en-US"/>
            <a:t>Market Managers – To manage vegetable prices and market listings.</a:t>
          </a:r>
        </a:p>
      </dgm:t>
    </dgm:pt>
    <dgm:pt modelId="{F2C7BE32-C25E-4683-A7F7-FCE348138850}" type="parTrans" cxnId="{7C213632-C9DA-41B1-8442-EBC53F174CBF}">
      <dgm:prSet/>
      <dgm:spPr/>
      <dgm:t>
        <a:bodyPr/>
        <a:lstStyle/>
        <a:p>
          <a:endParaRPr lang="en-US"/>
        </a:p>
      </dgm:t>
    </dgm:pt>
    <dgm:pt modelId="{F764680F-5A29-42B9-AAE3-9479A0FE1308}" type="sibTrans" cxnId="{7C213632-C9DA-41B1-8442-EBC53F174CBF}">
      <dgm:prSet/>
      <dgm:spPr/>
      <dgm:t>
        <a:bodyPr/>
        <a:lstStyle/>
        <a:p>
          <a:endParaRPr lang="en-US"/>
        </a:p>
      </dgm:t>
    </dgm:pt>
    <dgm:pt modelId="{54222DC2-1EE5-4E2A-AA92-10E45DC21F1F}">
      <dgm:prSet/>
      <dgm:spPr/>
      <dgm:t>
        <a:bodyPr/>
        <a:lstStyle/>
        <a:p>
          <a:r>
            <a:rPr lang="en-US" dirty="0"/>
            <a:t>Agricultural Researchers – To study plant diseases and improve farming techniques.</a:t>
          </a:r>
        </a:p>
      </dgm:t>
    </dgm:pt>
    <dgm:pt modelId="{DA400B75-6555-4C5D-8A41-A4CABE99BF56}" type="parTrans" cxnId="{36C5BFE9-9F6C-4130-B437-1ECB3B344534}">
      <dgm:prSet/>
      <dgm:spPr/>
      <dgm:t>
        <a:bodyPr/>
        <a:lstStyle/>
        <a:p>
          <a:endParaRPr lang="en-US"/>
        </a:p>
      </dgm:t>
    </dgm:pt>
    <dgm:pt modelId="{98874AA4-8D76-4D03-8DBA-9F7F4C45D16C}" type="sibTrans" cxnId="{36C5BFE9-9F6C-4130-B437-1ECB3B344534}">
      <dgm:prSet/>
      <dgm:spPr/>
      <dgm:t>
        <a:bodyPr/>
        <a:lstStyle/>
        <a:p>
          <a:endParaRPr lang="en-US"/>
        </a:p>
      </dgm:t>
    </dgm:pt>
    <dgm:pt modelId="{5E5A2A73-4CC5-4CEC-ABD6-367A5CB83FDE}">
      <dgm:prSet/>
      <dgm:spPr/>
      <dgm:t>
        <a:bodyPr/>
        <a:lstStyle/>
        <a:p>
          <a:r>
            <a:rPr lang="en-US" dirty="0"/>
            <a:t>Agriculture Departments – To support farmers with modern agricultural technology.</a:t>
          </a:r>
        </a:p>
      </dgm:t>
    </dgm:pt>
    <dgm:pt modelId="{345B3FAF-E5DC-463E-B463-643762747B47}" type="parTrans" cxnId="{7E4FDC74-B8D2-4B73-AA83-14BB617D9699}">
      <dgm:prSet/>
      <dgm:spPr/>
      <dgm:t>
        <a:bodyPr/>
        <a:lstStyle/>
        <a:p>
          <a:endParaRPr lang="en-US"/>
        </a:p>
      </dgm:t>
    </dgm:pt>
    <dgm:pt modelId="{E88B7DA2-D837-4363-98DC-88B712AF7623}" type="sibTrans" cxnId="{7E4FDC74-B8D2-4B73-AA83-14BB617D9699}">
      <dgm:prSet/>
      <dgm:spPr/>
      <dgm:t>
        <a:bodyPr/>
        <a:lstStyle/>
        <a:p>
          <a:endParaRPr lang="en-US"/>
        </a:p>
      </dgm:t>
    </dgm:pt>
    <dgm:pt modelId="{0E1F5656-2A57-46C3-9A76-09FA3DC9BD5C}">
      <dgm:prSet/>
      <dgm:spPr/>
      <dgm:t>
        <a:bodyPr/>
        <a:lstStyle/>
        <a:p>
          <a:r>
            <a:rPr lang="en-US"/>
            <a:t>Students and Developers – To research and develop smart agriculture solutions.</a:t>
          </a:r>
        </a:p>
      </dgm:t>
    </dgm:pt>
    <dgm:pt modelId="{FAA2F69E-2255-476F-A63D-03D43E6152F4}" type="parTrans" cxnId="{CF6E6302-822B-4C6C-BF3D-DB4F85E7E230}">
      <dgm:prSet/>
      <dgm:spPr/>
      <dgm:t>
        <a:bodyPr/>
        <a:lstStyle/>
        <a:p>
          <a:endParaRPr lang="en-US"/>
        </a:p>
      </dgm:t>
    </dgm:pt>
    <dgm:pt modelId="{C58F5583-42C6-4FC5-AB95-8AC98CD5CC51}" type="sibTrans" cxnId="{CF6E6302-822B-4C6C-BF3D-DB4F85E7E230}">
      <dgm:prSet/>
      <dgm:spPr/>
      <dgm:t>
        <a:bodyPr/>
        <a:lstStyle/>
        <a:p>
          <a:endParaRPr lang="en-US"/>
        </a:p>
      </dgm:t>
    </dgm:pt>
    <dgm:pt modelId="{78883FFD-C109-4F6D-8E8D-0D92B468169D}" type="pres">
      <dgm:prSet presAssocID="{50A26645-5D25-41DC-AF3D-6BB036515312}" presName="linear" presStyleCnt="0">
        <dgm:presLayoutVars>
          <dgm:animLvl val="lvl"/>
          <dgm:resizeHandles val="exact"/>
        </dgm:presLayoutVars>
      </dgm:prSet>
      <dgm:spPr/>
    </dgm:pt>
    <dgm:pt modelId="{93511FBF-02DE-4781-A436-D9A8F1202FA6}" type="pres">
      <dgm:prSet presAssocID="{149F58F5-7A33-4BC8-A436-B7457C97CE9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363810B-9AC2-465A-A371-2F845A2D7967}" type="pres">
      <dgm:prSet presAssocID="{149F58F5-7A33-4BC8-A436-B7457C97CE9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F6E6302-822B-4C6C-BF3D-DB4F85E7E230}" srcId="{149F58F5-7A33-4BC8-A436-B7457C97CE9E}" destId="{0E1F5656-2A57-46C3-9A76-09FA3DC9BD5C}" srcOrd="4" destOrd="0" parTransId="{FAA2F69E-2255-476F-A63D-03D43E6152F4}" sibTransId="{C58F5583-42C6-4FC5-AB95-8AC98CD5CC51}"/>
    <dgm:cxn modelId="{7C213632-C9DA-41B1-8442-EBC53F174CBF}" srcId="{149F58F5-7A33-4BC8-A436-B7457C97CE9E}" destId="{67F5E5FE-9F4A-453C-8D68-AE0A92076127}" srcOrd="1" destOrd="0" parTransId="{F2C7BE32-C25E-4683-A7F7-FCE348138850}" sibTransId="{F764680F-5A29-42B9-AAE3-9479A0FE1308}"/>
    <dgm:cxn modelId="{89BD2939-1D73-4EEE-8BCA-0A2E90122C9C}" type="presOf" srcId="{0E1F5656-2A57-46C3-9A76-09FA3DC9BD5C}" destId="{2363810B-9AC2-465A-A371-2F845A2D7967}" srcOrd="0" destOrd="4" presId="urn:microsoft.com/office/officeart/2005/8/layout/vList2"/>
    <dgm:cxn modelId="{43A1B662-9D91-43B8-A1EF-54859C44EA20}" type="presOf" srcId="{67F5E5FE-9F4A-453C-8D68-AE0A92076127}" destId="{2363810B-9AC2-465A-A371-2F845A2D7967}" srcOrd="0" destOrd="1" presId="urn:microsoft.com/office/officeart/2005/8/layout/vList2"/>
    <dgm:cxn modelId="{DB9DBB4D-F5FC-40DD-9632-0C9E0EEBC01F}" type="presOf" srcId="{54222DC2-1EE5-4E2A-AA92-10E45DC21F1F}" destId="{2363810B-9AC2-465A-A371-2F845A2D7967}" srcOrd="0" destOrd="2" presId="urn:microsoft.com/office/officeart/2005/8/layout/vList2"/>
    <dgm:cxn modelId="{7E4FDC74-B8D2-4B73-AA83-14BB617D9699}" srcId="{149F58F5-7A33-4BC8-A436-B7457C97CE9E}" destId="{5E5A2A73-4CC5-4CEC-ABD6-367A5CB83FDE}" srcOrd="3" destOrd="0" parTransId="{345B3FAF-E5DC-463E-B463-643762747B47}" sibTransId="{E88B7DA2-D837-4363-98DC-88B712AF7623}"/>
    <dgm:cxn modelId="{B03E6AAC-13B4-4B66-AA33-44ACDEDF86DF}" type="presOf" srcId="{50A26645-5D25-41DC-AF3D-6BB036515312}" destId="{78883FFD-C109-4F6D-8E8D-0D92B468169D}" srcOrd="0" destOrd="0" presId="urn:microsoft.com/office/officeart/2005/8/layout/vList2"/>
    <dgm:cxn modelId="{577A39BF-FE05-48C0-B749-6A6507A856A7}" type="presOf" srcId="{149F58F5-7A33-4BC8-A436-B7457C97CE9E}" destId="{93511FBF-02DE-4781-A436-D9A8F1202FA6}" srcOrd="0" destOrd="0" presId="urn:microsoft.com/office/officeart/2005/8/layout/vList2"/>
    <dgm:cxn modelId="{3DCBDEC2-16A5-461D-BD17-01F3D55705BF}" srcId="{149F58F5-7A33-4BC8-A436-B7457C97CE9E}" destId="{07F789D7-71EF-410A-AFF0-D159975A6E63}" srcOrd="0" destOrd="0" parTransId="{209C2B06-FEFE-419A-B77E-84CED1E8D6B2}" sibTransId="{D4DD3143-FF6A-461B-8A56-5C400A2B17BA}"/>
    <dgm:cxn modelId="{36C5BFE9-9F6C-4130-B437-1ECB3B344534}" srcId="{149F58F5-7A33-4BC8-A436-B7457C97CE9E}" destId="{54222DC2-1EE5-4E2A-AA92-10E45DC21F1F}" srcOrd="2" destOrd="0" parTransId="{DA400B75-6555-4C5D-8A41-A4CABE99BF56}" sibTransId="{98874AA4-8D76-4D03-8DBA-9F7F4C45D16C}"/>
    <dgm:cxn modelId="{5C0502EF-0CFD-4301-8F4F-20787E375C90}" type="presOf" srcId="{07F789D7-71EF-410A-AFF0-D159975A6E63}" destId="{2363810B-9AC2-465A-A371-2F845A2D7967}" srcOrd="0" destOrd="0" presId="urn:microsoft.com/office/officeart/2005/8/layout/vList2"/>
    <dgm:cxn modelId="{ECA3F3FE-ED61-4F8D-893D-53D511C0BAB1}" type="presOf" srcId="{5E5A2A73-4CC5-4CEC-ABD6-367A5CB83FDE}" destId="{2363810B-9AC2-465A-A371-2F845A2D7967}" srcOrd="0" destOrd="3" presId="urn:microsoft.com/office/officeart/2005/8/layout/vList2"/>
    <dgm:cxn modelId="{A1F1CDFF-A65F-4CEB-A64F-98CD965BCAD5}" srcId="{50A26645-5D25-41DC-AF3D-6BB036515312}" destId="{149F58F5-7A33-4BC8-A436-B7457C97CE9E}" srcOrd="0" destOrd="0" parTransId="{3F82DE7F-FDC8-4B64-8312-3D779FE32F87}" sibTransId="{07DA22B5-4B3C-481B-9077-87DFD0224146}"/>
    <dgm:cxn modelId="{2D3B8E39-81CE-45F5-9EB7-80A42738465C}" type="presParOf" srcId="{78883FFD-C109-4F6D-8E8D-0D92B468169D}" destId="{93511FBF-02DE-4781-A436-D9A8F1202FA6}" srcOrd="0" destOrd="0" presId="urn:microsoft.com/office/officeart/2005/8/layout/vList2"/>
    <dgm:cxn modelId="{98927141-106F-4BEA-B0DA-30E92726FBE3}" type="presParOf" srcId="{78883FFD-C109-4F6D-8E8D-0D92B468169D}" destId="{2363810B-9AC2-465A-A371-2F845A2D796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11FBF-02DE-4781-A436-D9A8F1202FA6}">
      <dsp:nvSpPr>
        <dsp:cNvPr id="0" name=""/>
        <dsp:cNvSpPr/>
      </dsp:nvSpPr>
      <dsp:spPr>
        <a:xfrm>
          <a:off x="0" y="102306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Stakeholders</a:t>
          </a:r>
          <a:r>
            <a:rPr lang="en-US" sz="3000" kern="1200"/>
            <a:t>: </a:t>
          </a:r>
        </a:p>
      </dsp:txBody>
      <dsp:txXfrm>
        <a:off x="35125" y="137431"/>
        <a:ext cx="8159350" cy="649299"/>
      </dsp:txXfrm>
    </dsp:sp>
    <dsp:sp modelId="{2363810B-9AC2-465A-A371-2F845A2D7967}">
      <dsp:nvSpPr>
        <dsp:cNvPr id="0" name=""/>
        <dsp:cNvSpPr/>
      </dsp:nvSpPr>
      <dsp:spPr>
        <a:xfrm>
          <a:off x="0" y="821856"/>
          <a:ext cx="8229600" cy="3601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Farmers – To detect plant diseases early and get fertilizer suggestions.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Market Managers – To manage vegetable prices and market listings.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Agricultural Researchers – To study plant diseases and improve farming techniques.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Agriculture Departments – To support farmers with modern agricultural technology.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Students and Developers – To research and develop smart agriculture solutions.</a:t>
          </a:r>
        </a:p>
      </dsp:txBody>
      <dsp:txXfrm>
        <a:off x="0" y="821856"/>
        <a:ext cx="8229600" cy="3601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5C626-2F83-4EE5-A956-15BAB7E6E32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809AE-EA70-4ECC-8FE3-598D1789E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7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6CA556-3ED3-4E83-B209-8A9AB621675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AB009F-3F92-475B-B1D9-0CE431819213}" type="datetime1">
              <a:rPr lang="en-US" smtClean="0"/>
              <a:t>3/23/2026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970453F7-F083-4F56-AF23-CBEFD95BBE3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186/s13007-025-01450-0" TargetMode="External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417936" y="986135"/>
            <a:ext cx="6308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Integrated Project–II | Progress Review –1</a:t>
            </a:r>
            <a:endParaRPr lang="en-IN" altLang="en-US" sz="2400" b="1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19484"/>
              </p:ext>
            </p:extLst>
          </p:nvPr>
        </p:nvGraphicFramePr>
        <p:xfrm>
          <a:off x="341951" y="5002843"/>
          <a:ext cx="8460096" cy="1554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3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886">
                <a:tc>
                  <a:txBody>
                    <a:bodyPr/>
                    <a:lstStyle/>
                    <a:p>
                      <a:r>
                        <a:rPr lang="en-US" sz="1100" b="1" dirty="0"/>
                        <a:t>Submitted</a:t>
                      </a:r>
                      <a:r>
                        <a:rPr lang="en-US" sz="1100" b="1" baseline="0" dirty="0"/>
                        <a:t> To: </a:t>
                      </a:r>
                      <a:endParaRPr lang="en-I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Submitted By:</a:t>
                      </a:r>
                      <a:endParaRPr lang="en-I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7">
                <a:tc rowSpan="5"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 Tanu Minhas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/>
                        <a:t>1. Ravi </a:t>
                      </a:r>
                      <a:r>
                        <a:rPr lang="en-US" sz="1100" dirty="0" err="1"/>
                        <a:t>kumar</a:t>
                      </a:r>
                      <a:r>
                        <a:rPr lang="en-US" sz="1100" dirty="0"/>
                        <a:t> (2411981457)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08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2. Saksham Yadav (2411981485)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661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3. Ritish Sharma (2411981466)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34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34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1802956" y="3733800"/>
            <a:ext cx="5532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b="1" dirty="0"/>
              <a:t>Department of Computer Science &amp; Engineering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32493" y="4035643"/>
            <a:ext cx="5873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sz="2400" b="1" dirty="0"/>
              <a:t>CHITKARA UNIVERSITY, HIMACHAL PRADESH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48825"/>
            <a:ext cx="7391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FF0000"/>
                </a:solidFill>
              </a:rPr>
              <a:t>Smart Agriculture System using AI for Disease Detection and Farmer Market 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959EEC-EE76-39F9-5B4C-E63B5D07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162"/>
          <a:stretch>
            <a:fillRect/>
          </a:stretch>
        </p:blipFill>
        <p:spPr bwMode="auto">
          <a:xfrm>
            <a:off x="3101369" y="2361104"/>
            <a:ext cx="2935457" cy="13726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16D05-0834-7612-D70F-A80AA995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52F4-17CD-409F-9080-70E7B46E1105}" type="datetime1">
              <a:rPr lang="en-US" smtClean="0"/>
              <a:t>3/23/2026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Requirement Gathering &amp; Data Collection</a:t>
            </a:r>
          </a:p>
          <a:p>
            <a:r>
              <a:rPr lang="en-US" dirty="0"/>
              <a:t>Design Phase</a:t>
            </a:r>
          </a:p>
          <a:p>
            <a:r>
              <a:rPr lang="en-US" dirty="0"/>
              <a:t>Development Kickoff</a:t>
            </a:r>
          </a:p>
          <a:p>
            <a:r>
              <a:rPr lang="en-US" dirty="0"/>
              <a:t>SDG Goals Mapping</a:t>
            </a:r>
          </a:p>
          <a:p>
            <a:r>
              <a:rPr lang="en-US" dirty="0"/>
              <a:t>Multidisciplinary Approach</a:t>
            </a:r>
          </a:p>
          <a:p>
            <a:r>
              <a:rPr lang="en-US" dirty="0"/>
              <a:t>Novelty Factor</a:t>
            </a:r>
          </a:p>
          <a:p>
            <a:r>
              <a:rPr lang="en-US" dirty="0"/>
              <a:t>Challenges &amp; Risks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1FF52-CF87-460D-A5C7-10D13E9A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9AA9-E97D-476F-BEB7-579D9EF6D0F1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C6C93-3E8E-52B2-70F6-0779F7D7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2</a:t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1"/>
            <a:ext cx="8839200" cy="5883274"/>
          </a:xfrm>
        </p:spPr>
        <p:txBody>
          <a:bodyPr/>
          <a:lstStyle/>
          <a:p>
            <a:pPr algn="just"/>
            <a:r>
              <a:rPr lang="en-US" sz="2400" b="1" dirty="0"/>
              <a:t>Problem statement: </a:t>
            </a:r>
            <a:r>
              <a:rPr lang="en-US" sz="2400" dirty="0"/>
              <a:t>Farmers often struggle to identify plant diseases early, which can reduce crop yield and quality. </a:t>
            </a:r>
          </a:p>
          <a:p>
            <a:pPr algn="just"/>
            <a:r>
              <a:rPr lang="en-US" sz="2400" dirty="0"/>
              <a:t>An AI-based system can help detect diseases from leaf images and support farmers in taking timely action.</a:t>
            </a:r>
          </a:p>
          <a:p>
            <a:pPr algn="just"/>
            <a:r>
              <a:rPr lang="en-US" sz="2400" b="1" dirty="0"/>
              <a:t>Objective</a:t>
            </a:r>
            <a:r>
              <a:rPr lang="en-US" sz="2400" dirty="0"/>
              <a:t>: To develop an AI-based smart agriculture system that detects plant diseases from leaf images and provides fertilizer recommendations and vegetable market prices to help farmers improve crop management and profit.</a:t>
            </a:r>
          </a:p>
          <a:p>
            <a:pPr algn="just"/>
            <a:r>
              <a:rPr lang="en-US" sz="2400" b="1" dirty="0"/>
              <a:t>Scope of the System</a:t>
            </a:r>
            <a:r>
              <a:rPr lang="en-US" sz="2400" dirty="0"/>
              <a:t>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Detect plant diseases using AI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Suggest fertilizer and treatment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Show vegetable nearby market prices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Role based login for Farmer and Market Manager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Maintain history for registered users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4701-DCE9-511E-22E6-FB00860F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BA96-28CA-42BF-8CE2-937A0FCF959F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D1B3-7666-C950-2B75-7B8A9CFC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3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F9FE-7DCA-8868-FF77-7C561EE3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B7C3-BF76-F986-3E04-279B81D7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7FAB009F-3F92-475B-B1D9-0CE431819213}" type="datetime1">
              <a:rPr lang="en-US" smtClean="0"/>
              <a:pPr>
                <a:spcAft>
                  <a:spcPts val="600"/>
                </a:spcAft>
              </a:pPr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E7419-44D8-834C-A1AC-AD91FDBA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wrap="square" anchor="ctr">
            <a:normAutofit/>
          </a:bodyPr>
          <a:lstStyle/>
          <a:p>
            <a:pPr marL="38100">
              <a:spcAft>
                <a:spcPts val="600"/>
              </a:spcAft>
            </a:pPr>
            <a:fld id="{81D60167-4931-47E6-BA6A-407CBD079E47}" type="slidenum">
              <a:rPr lang="en-IN" smtClean="0"/>
              <a:pPr marL="38100">
                <a:spcAft>
                  <a:spcPts val="600"/>
                </a:spcAft>
              </a:pPr>
              <a:t>4</a:t>
            </a:fld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DA17166-152E-B649-EF5E-7E79F63E17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237174"/>
              </p:ext>
            </p:extLst>
          </p:nvPr>
        </p:nvGraphicFramePr>
        <p:xfrm>
          <a:off x="457200" y="13716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893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/>
            </a:br>
            <a:r>
              <a:rPr lang="en-US" sz="2800" b="1" dirty="0"/>
              <a:t>Requirement Gathering &amp; Data Collection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6116"/>
            <a:ext cx="9144000" cy="5915359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Sources of Data</a:t>
            </a:r>
            <a:r>
              <a:rPr lang="en-US" sz="28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Plant leaf images collected from datasets and online sources. (</a:t>
            </a:r>
            <a:r>
              <a:rPr lang="en-US" sz="2000" dirty="0">
                <a:hlinkClick r:id="rId2"/>
              </a:rPr>
              <a:t>https://www.kaggle.com/</a:t>
            </a:r>
            <a:r>
              <a:rPr lang="en-US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Agricultural research papers and literature review</a:t>
            </a:r>
            <a:r>
              <a:rPr lang="en-US" sz="1800" dirty="0"/>
              <a:t>. (</a:t>
            </a:r>
            <a:r>
              <a:rPr lang="en-US" sz="1800" dirty="0">
                <a:hlinkClick r:id="rId3"/>
              </a:rPr>
              <a:t>https://link.springer.com/article/10.1186/s13007-025-01450-0</a:t>
            </a:r>
            <a:r>
              <a:rPr lang="en-US" sz="1800" dirty="0"/>
              <a:t>)</a:t>
            </a:r>
            <a:br>
              <a:rPr lang="en-US" sz="1800" dirty="0"/>
            </a:br>
            <a:r>
              <a:rPr lang="en-IN" sz="2000" dirty="0"/>
              <a:t>Published: 28 October 2025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Observation of diseased plant leaves.</a:t>
            </a:r>
          </a:p>
          <a:p>
            <a:pPr marL="0" indent="0">
              <a:buNone/>
            </a:pPr>
            <a:r>
              <a:rPr lang="en-US" sz="2400" b="1" dirty="0"/>
              <a:t>Existing Datasets / Literature Review</a:t>
            </a:r>
          </a:p>
          <a:p>
            <a:r>
              <a:rPr lang="en-US" sz="2400" dirty="0"/>
              <a:t>Public datasets like Plant Village dataset used for training.</a:t>
            </a:r>
          </a:p>
          <a:p>
            <a:r>
              <a:rPr lang="en-US" sz="2400" dirty="0"/>
              <a:t>Previous research on plant disease detection using machine learning and image processing.</a:t>
            </a:r>
          </a:p>
          <a:p>
            <a:r>
              <a:rPr lang="en-US" sz="2400" b="1" dirty="0"/>
              <a:t>Functional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Upload plant leaf image.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Display disease result to the user and </a:t>
            </a:r>
            <a:r>
              <a:rPr lang="en-IN" sz="2400" dirty="0"/>
              <a:t>Suggested Fertilizer 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F09FB-984F-279E-C7E4-B1C066E5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4BF9-92DC-4C99-B960-656559E2FCAC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48A0F-27AB-7C64-E19A-28B4698F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7430-5D00-86C6-7850-521743C4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6157-531E-E256-8010-B5D334257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Non-Functional Requirements</a:t>
            </a:r>
          </a:p>
          <a:p>
            <a:r>
              <a:rPr lang="en-US" sz="2400" dirty="0"/>
              <a:t>Easy to use interface.</a:t>
            </a:r>
          </a:p>
          <a:p>
            <a:r>
              <a:rPr lang="en-US" sz="2400" dirty="0"/>
              <a:t>Fast and accurate detection.</a:t>
            </a:r>
          </a:p>
          <a:p>
            <a:r>
              <a:rPr lang="en-US" sz="2400" dirty="0"/>
              <a:t>Reliable system performance.</a:t>
            </a:r>
          </a:p>
          <a:p>
            <a:pPr marL="0" indent="0">
              <a:buNone/>
            </a:pPr>
            <a:r>
              <a:rPr lang="en-US" sz="2800" b="1" dirty="0"/>
              <a:t>Challenges in Data Collection</a:t>
            </a:r>
          </a:p>
          <a:p>
            <a:r>
              <a:rPr lang="en-US" sz="2400" dirty="0"/>
              <a:t>Getting high-quality leaf images.</a:t>
            </a:r>
          </a:p>
          <a:p>
            <a:r>
              <a:rPr lang="en-US" sz="2400" dirty="0"/>
              <a:t>Different lighting and background conditions.</a:t>
            </a:r>
          </a:p>
          <a:p>
            <a:r>
              <a:rPr lang="en-US" sz="2400" dirty="0"/>
              <a:t>Similar appearance of some diseases.</a:t>
            </a:r>
          </a:p>
          <a:p>
            <a:pPr marL="0" indent="0">
              <a:buNone/>
            </a:pPr>
            <a:r>
              <a:rPr lang="en-US" sz="2800" b="1" dirty="0"/>
              <a:t>Current Status of Project</a:t>
            </a:r>
            <a:r>
              <a:rPr lang="en-US" sz="2800" dirty="0"/>
              <a:t>:</a:t>
            </a:r>
          </a:p>
          <a:p>
            <a:r>
              <a:rPr lang="en-US" sz="2400" dirty="0"/>
              <a:t>Dataset collected and studied.</a:t>
            </a:r>
          </a:p>
          <a:p>
            <a:r>
              <a:rPr lang="en-US" sz="2400" dirty="0"/>
              <a:t>Basic model and research completed.</a:t>
            </a:r>
          </a:p>
          <a:p>
            <a:r>
              <a:rPr lang="en-US" sz="2400" dirty="0"/>
              <a:t>System development and testing in progress.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1F5B5-2F02-83B3-3C87-8D201695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84F5D-FA6F-B8B6-9DEA-009EA4C8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12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08730"/>
            <a:ext cx="8915400" cy="5518150"/>
          </a:xfrm>
        </p:spPr>
        <p:txBody>
          <a:bodyPr/>
          <a:lstStyle/>
          <a:p>
            <a:r>
              <a:rPr lang="en-US" sz="2000" b="1" dirty="0"/>
              <a:t>Use Case Diagram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DA000-B4F6-53E8-16A6-1004F12E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BF37-5162-4590-A6C6-1B025586CEF4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1FB65-6E2D-7F44-016E-E0B2ECC7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7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7AB131-786E-8231-AA1A-FD7C9CCF4D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8" y="1212475"/>
            <a:ext cx="8839200" cy="5314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45F2-5DD8-5992-38C1-83336677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F586-5353-3332-1D1A-515F0E54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1"/>
            <a:ext cx="7848600" cy="3809999"/>
          </a:xfrm>
        </p:spPr>
        <p:txBody>
          <a:bodyPr/>
          <a:lstStyle/>
          <a:p>
            <a:r>
              <a:rPr lang="en-US" sz="2800" b="1" dirty="0"/>
              <a:t>Data Flow Diagrams (DFDs)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Farmer → Upload Plant Leaf Image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→ Process Image using AI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→ Detect Plant Disease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→ Display Disease Result and Fertilizer Suggestion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Market Manager → Add / Update Vegetable Prices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System → Store Vegetable Data in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Farmer / User → View Real-Time Market Prices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E379A-447C-E066-5DE0-9780B8FE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82032-0A24-E4AF-07D9-294F5F92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92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A7CA-0E91-9338-CC79-2DDE088B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490D-DF51-A552-2C95-2A1C46EFC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534400" cy="5883275"/>
          </a:xfrm>
        </p:spPr>
        <p:txBody>
          <a:bodyPr/>
          <a:lstStyle/>
          <a:p>
            <a:r>
              <a:rPr lang="en-US" b="1" dirty="0"/>
              <a:t>Architecture &amp; Tech Stack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Frontend (User Interface)</a:t>
            </a:r>
            <a:br>
              <a:rPr lang="en-IN" sz="2400" dirty="0"/>
            </a:br>
            <a:r>
              <a:rPr lang="en-IN" sz="2400" dirty="0"/>
              <a:t>• HTML, CSS, JavaScript / React</a:t>
            </a:r>
            <a:br>
              <a:rPr lang="en-IN" sz="2400" dirty="0"/>
            </a:br>
            <a:r>
              <a:rPr lang="en-IN" sz="2400" dirty="0"/>
              <a:t>• Allows users to upload images and view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Backend (Server Logic)</a:t>
            </a:r>
            <a:br>
              <a:rPr lang="en-IN" sz="2400" dirty="0"/>
            </a:br>
            <a:r>
              <a:rPr lang="en-IN" sz="2400" dirty="0"/>
              <a:t>• python Flask</a:t>
            </a:r>
            <a:br>
              <a:rPr lang="en-IN" sz="2400" dirty="0"/>
            </a:br>
            <a:r>
              <a:rPr lang="en-IN" sz="2400" dirty="0"/>
              <a:t>• Handles API requests and business logic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AI Model (Disease Detection)</a:t>
            </a:r>
            <a:br>
              <a:rPr lang="en-IN" sz="2400" dirty="0"/>
            </a:br>
            <a:r>
              <a:rPr lang="en-IN" sz="2400" dirty="0"/>
              <a:t>• Machine Learning / CNN model</a:t>
            </a:r>
            <a:br>
              <a:rPr lang="en-IN" sz="2400" dirty="0"/>
            </a:br>
            <a:r>
              <a:rPr lang="en-IN" sz="2400" dirty="0"/>
              <a:t>• Detects plant diseases from leaf images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Database (Data Storage)</a:t>
            </a:r>
            <a:br>
              <a:rPr lang="en-IN" sz="2400" dirty="0"/>
            </a:br>
            <a:r>
              <a:rPr lang="en-IN" sz="2400" dirty="0"/>
              <a:t>• MongoDB</a:t>
            </a:r>
            <a:br>
              <a:rPr lang="en-IN" sz="2400" dirty="0"/>
            </a:br>
            <a:r>
              <a:rPr lang="en-IN" sz="2400" dirty="0"/>
              <a:t>• Stores user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91CE8-5E6D-DD8F-8281-C3427747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54C80-DE6A-5BAD-C3EA-D22F7FA6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175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Development Kickoff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3657600"/>
          </a:xfrm>
        </p:spPr>
        <p:txBody>
          <a:bodyPr/>
          <a:lstStyle/>
          <a:p>
            <a:r>
              <a:rPr lang="en-US" sz="2400" b="1" dirty="0"/>
              <a:t>Initial Codebase Setup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Development environment and tools setup.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Required libraries installed (Python, TensorFlow, OpenCV).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Dataset collected and organized.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Initial AI model structure created.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Basic system testing started.</a:t>
            </a:r>
            <a:endParaRPr lang="en-US" sz="24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3FBA6-F7BA-0B65-2925-C6BC22FA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AF32E-26B8-4D17-8C5F-913E0655C6A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3357-D920-E3E3-AD11-FC290F99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10</a:t>
            </a:fld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dirty="0"/>
            </a:br>
            <a:r>
              <a:rPr lang="en-US" sz="3200" b="1" dirty="0"/>
              <a:t>SDG Goals Mapping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51718"/>
            <a:ext cx="8305800" cy="5120482"/>
          </a:xfrm>
        </p:spPr>
        <p:txBody>
          <a:bodyPr/>
          <a:lstStyle/>
          <a:p>
            <a:r>
              <a:rPr lang="en-US" sz="2400" b="1" dirty="0"/>
              <a:t>SDG 2 – </a:t>
            </a:r>
            <a:r>
              <a:rPr lang="en-US" sz="2400" dirty="0"/>
              <a:t>Zero Hunger:</a:t>
            </a:r>
            <a:br>
              <a:rPr lang="en-US" sz="2400" dirty="0"/>
            </a:br>
            <a:r>
              <a:rPr lang="en-US" sz="2400" dirty="0"/>
              <a:t>Helps improve crop production by detecting plant diseases early.</a:t>
            </a:r>
          </a:p>
          <a:p>
            <a:r>
              <a:rPr lang="en-US" sz="2400" b="1" dirty="0"/>
              <a:t>SDG 12 </a:t>
            </a:r>
            <a:r>
              <a:rPr lang="en-US" sz="2000" dirty="0"/>
              <a:t>– </a:t>
            </a:r>
            <a:r>
              <a:rPr lang="en-US" sz="2400" dirty="0"/>
              <a:t>Responsible Consumption and Production:</a:t>
            </a:r>
            <a:br>
              <a:rPr lang="en-US" sz="2400" dirty="0"/>
            </a:br>
            <a:r>
              <a:rPr lang="en-US" sz="2400" dirty="0"/>
              <a:t>Reduces crop loss and promotes efficient use of agricultural resources.</a:t>
            </a:r>
          </a:p>
          <a:p>
            <a:r>
              <a:rPr lang="en-US" sz="2400" b="1" dirty="0"/>
              <a:t>SDG 15 – </a:t>
            </a:r>
            <a:r>
              <a:rPr lang="en-US" sz="2400" dirty="0"/>
              <a:t>Life on Land:</a:t>
            </a:r>
            <a:br>
              <a:rPr lang="en-US" sz="2400" dirty="0"/>
            </a:br>
            <a:r>
              <a:rPr lang="en-US" sz="2400" dirty="0"/>
              <a:t>Supports healthy plant growth and sustainable farming.</a:t>
            </a:r>
          </a:p>
          <a:p>
            <a:r>
              <a:rPr lang="en-US" sz="2800" b="1" dirty="0"/>
              <a:t>Potential Impact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Helps farmers identify plant diseases quickly.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Reduces crop damage and improves productivity.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Saves time and cost in manual disease detection.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9F6C-F41C-38B3-4E58-91612F5F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6D5-E499-41EF-B3A4-86735D515090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EFA7-EA41-D787-AB76-AC3BBA7F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11</a:t>
            </a:fld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Multidisciplinary Approach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365750"/>
          </a:xfrm>
        </p:spPr>
        <p:txBody>
          <a:bodyPr/>
          <a:lstStyle/>
          <a:p>
            <a:r>
              <a:rPr lang="en-US" sz="2800" b="1" dirty="0"/>
              <a:t>Fields Involved</a:t>
            </a:r>
            <a:r>
              <a:rPr lang="en-US" sz="28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Artificial Intelligence / Machine Learning: Used to detect plant diseases from leaf images.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Data Science: Used for dataset collection, analysis, and model training.</a:t>
            </a:r>
          </a:p>
          <a:p>
            <a:r>
              <a:rPr lang="en-US" sz="2800" b="1" dirty="0"/>
              <a:t>Team Collaboration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Team members work together on data collection, model development, and testing.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Tasks are divided such as research, coding, dataset preparation, and documentation.</a:t>
            </a:r>
          </a:p>
          <a:p>
            <a:r>
              <a:rPr lang="en-US" sz="2800" b="1" dirty="0"/>
              <a:t>Interdisciplinary Innovation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Combines technology and agriculture to solve real farming problems.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Uses AI and data analysis to create a smart solution for plant disease detection.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1C32D-B020-CF5A-CCC3-4DAE73E4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3343-DF52-465F-B380-EEB96FB7F3E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34F2-FD53-A7DC-24D9-41DE03AD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12</a:t>
            </a:fld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229600" cy="528955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What Makes This Project Unique</a:t>
            </a:r>
          </a:p>
          <a:p>
            <a:r>
              <a:rPr lang="en-US" sz="2000" dirty="0"/>
              <a:t>Uses AI / Machine Learning to automatically detect plant diseases from leaf images.</a:t>
            </a:r>
          </a:p>
          <a:p>
            <a:r>
              <a:rPr lang="en-US" sz="2000" dirty="0"/>
              <a:t>Faster and more accurate than traditional manual disease identification.</a:t>
            </a:r>
          </a:p>
          <a:p>
            <a:r>
              <a:rPr lang="en-US" sz="2000" dirty="0"/>
              <a:t>Helps farmers detect diseases at an early stage.</a:t>
            </a:r>
          </a:p>
          <a:p>
            <a:r>
              <a:rPr lang="en-US" sz="2000" dirty="0"/>
              <a:t>Provides fertilizer suggestions for proper treatment.</a:t>
            </a:r>
          </a:p>
          <a:p>
            <a:r>
              <a:rPr lang="en-US" sz="2000" dirty="0"/>
              <a:t>Displays nearest vegetable market prices to help farmers choose the best market.</a:t>
            </a:r>
            <a:endParaRPr lang="en-US" sz="2000" b="1" dirty="0"/>
          </a:p>
          <a:p>
            <a:pPr marL="0" indent="0">
              <a:buNone/>
            </a:pPr>
            <a:r>
              <a:rPr lang="en-US" sz="2400" b="1" dirty="0"/>
              <a:t>Comparison with Existing Solutions</a:t>
            </a:r>
          </a:p>
          <a:p>
            <a:r>
              <a:rPr lang="en-US" sz="2000" dirty="0"/>
              <a:t>Traditional method: Farmers identify diseases manually which takes time and may be inaccurate.</a:t>
            </a:r>
          </a:p>
          <a:p>
            <a:r>
              <a:rPr lang="en-US" sz="2000" dirty="0"/>
              <a:t>Proposed system: Image-based automatic detection using machine learning for better accuracy and speed, Shows nearest market prices, Helps farmers compare and choose the best market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02BCB-8685-3C1D-E51E-1F714C1C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5528-F109-41E6-A9AC-EEB9FA79A25C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1C85-D15E-A6CD-171C-117EB958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13</a:t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dirty="0"/>
            </a:br>
            <a:r>
              <a:rPr lang="en-US" sz="3200" b="1" dirty="0"/>
              <a:t>Challenges &amp; Risks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/>
          <a:lstStyle/>
          <a:p>
            <a:r>
              <a:rPr lang="en-US" sz="2400" b="1" dirty="0"/>
              <a:t>Key Challenges Faced So Far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Different lighting conditions and backgrounds in images.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Some plant diseases look very similar, making detection difficult.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Limited dataset for certain plant diseases.</a:t>
            </a:r>
          </a:p>
          <a:p>
            <a:r>
              <a:rPr lang="en-US" sz="2400" b="1" dirty="0"/>
              <a:t>Identified Risks &amp; Mitigation Strategies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Incorrect disease prediction.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Insufficient or unbalanced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Model accuracy issues.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E66B1-0662-8C51-4FE9-A3821FA0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514EB-ADF4-44F4-B0DD-F8908B819805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69691-BF2B-44EF-8BCC-004B9DAF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14</a:t>
            </a:fld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3DA7-2C7B-4C43-4D6E-2779307C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78A4-3C4A-F3C6-E800-595898BC8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2835275"/>
            <a:ext cx="8229600" cy="838200"/>
          </a:xfrm>
        </p:spPr>
        <p:txBody>
          <a:bodyPr/>
          <a:lstStyle/>
          <a:p>
            <a:pPr marL="0" indent="0" algn="ctr">
              <a:buNone/>
            </a:pPr>
            <a:r>
              <a:rPr lang="en-IN" sz="5400" b="1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BD5D-E9AA-F2DE-1015-7C19C4EC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55B2C-D2E3-E76B-BFE5-B1F6A3CA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36576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8E1645-0256-4654-A811-9AE194E5F384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969</Words>
  <Application>Microsoft Office PowerPoint</Application>
  <PresentationFormat>On-screen Show (4:3)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Theme1</vt:lpstr>
      <vt:lpstr>PowerPoint Presentation</vt:lpstr>
      <vt:lpstr>Agenda</vt:lpstr>
      <vt:lpstr>Project Overview</vt:lpstr>
      <vt:lpstr>    </vt:lpstr>
      <vt:lpstr> Requirement Gathering &amp; Data Collection </vt:lpstr>
      <vt:lpstr>   </vt:lpstr>
      <vt:lpstr>Design Phase</vt:lpstr>
      <vt:lpstr> </vt:lpstr>
      <vt:lpstr>PowerPoint Presentation</vt:lpstr>
      <vt:lpstr>Development Kickoff</vt:lpstr>
      <vt:lpstr> SDG Goals Mapping </vt:lpstr>
      <vt:lpstr>  Multidisciplinary Approach </vt:lpstr>
      <vt:lpstr>Novelty Factor</vt:lpstr>
      <vt:lpstr> Challenges &amp; Risks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RAVI KUMAR</cp:lastModifiedBy>
  <cp:revision>82</cp:revision>
  <dcterms:created xsi:type="dcterms:W3CDTF">2024-07-10T18:26:37Z</dcterms:created>
  <dcterms:modified xsi:type="dcterms:W3CDTF">2026-03-23T09:32:58Z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